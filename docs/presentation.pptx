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 Dropout in one line: ask the model the same question 30 times, each time switching off a different random slice of the network, and watch how much the answer moves.</a:t>
            </a:r>
          </a:p>
          <a:p/>
          <a:p>
            <a:r>
              <a:t>Why it matters: a softmax of 0.97 tells you which class won, not whether the model would say the same thing again. Entropy measures the total spread; mutual information isolates the part caused by the passes disagreeing with each other, as opposed to two subtypes genuinely looking alike.</a:t>
            </a:r>
          </a:p>
          <a:p/>
          <a:p>
            <a:r>
              <a:t>Calibration, and this is the part examiners ask about: the two cut-points (0.176 and 0.552) come from the VALIDATION split only, never the test split. The validation set had just one misclassification, far too few to fit a Youden's-J operating point, so the thresholds are the 95th and 99th percentile of entropy over the 485 correct validation predictions instead. That choice is recorded in models/uncertainty_thresholds.json along with the Youden candidate we rejected.</a:t>
            </a:r>
          </a:p>
          <a:p/>
          <a:p>
            <a:r>
              <a:t>Result on test: 83% of the 6 mistakes were flagged MEDIUM or LOW, at a cost of flagging 5.6% of the 481 correct predictions. Entropy works as a wrong-prediction detector at AUROC 0.965; mutual information 0.947.</a:t>
            </a:r>
          </a:p>
          <a:p/>
          <a:p>
            <a:r>
              <a:t>Be honest about the limit: 6 errors is a small denominator, so quote the direction, not the decimal. Cost: 30 passes is about 30x one forward pass; the full test split took 18 minutes on CPU, and the live demo uses 10 passes (~1.6 s) to stay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i="0">
                <a:solidFill>
                  <a:srgbClr val="FFFFFF"/>
                </a:solidFill>
                <a:latin typeface="Calibri"/>
              </a:rPr>
              <a:t>Uncertainty-Aware Hybrid CNN Ensemble for Four-Class Acute Lymphoblastic Leukemia Subtyping with MC Dropout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1">
                <a:solidFill>
                  <a:srgbClr val="BFD6E6"/>
                </a:solidFill>
                <a:latin typeface="Calibri"/>
              </a:rPr>
              <a:t>Four-class Acute Lymphoblastic Leukemia subtype classification from peripheral blood smears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G. Revathi    ·    G. Chandana    ·    G. Prashanth    ·    A. Divya Reddy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BFD6E6"/>
                </a:solidFill>
                <a:latin typeface="Calibri"/>
              </a:rPr>
              <a:t>Dept. of Artificial Intelligence &amp; ML,  Mallareddy University</a:t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BFD6E6"/>
                </a:solidFill>
                <a:latin typeface="Calibri"/>
              </a:rPr>
              <a:t>Maisammaguda, Hyderabad,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303520"/>
            <a:ext cx="3657600" cy="8229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98.97% accuracy  ·  0.9883 macro-F1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Why automate ALL subtype detection?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Acute Lymphoblastic Leukemia (ALL) is the most common childhood cancer, ~25% of pediatric diagnoses.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Subtypes differ in prognosis and treatment, so the first read must get the subtype right.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Standard diagnosis relies on a hematologist reading a stained smear under a microscope.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–  Slow, costly, and sensitive to observer experience.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–  Readers can disagree on the same slide where experts are scarce.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Deep learning can give a fast, consistent second opinion — but needs to signal when it is unsure.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737360"/>
            <a:ext cx="420624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92024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F2B46"/>
                </a:solidFill>
                <a:latin typeface="Calibri"/>
              </a:rPr>
              <a:t>The 4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6888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Benign (normal precursors)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[Malignant] early Pre-B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[Malignant] Pre-B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[Malignant] Pro-B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Objectives &amp;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Reproducible hybrid ensemble on a public dataset, with full source code.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Side-by-side comparison of weighted soft voting vs. stacked meta-classification.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MC Dropout uncertainty quantification — predictive entropy &amp; mutual information (primary novelty).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Grad-CAM integration for visual interpretability of every prediction.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A deployable web application for clinical screening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Shafique &amp; Tehsin [7]: AlexNet transfer learning on ALL-IDB, &gt;95% accuracy on a small set.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Mondal et al. [8]: VGG16/ResNet50/InceptionV3 ensembles beat single models; soft voting won.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Acevedo et al. [9]: benchmark dataset; DenseNet &amp; EfficientNet best accuracy/cost trade-off.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Jayachitra &amp; Umarkathaf [5]: hybrid CNN ensemble, state-of-the-art — but no code released.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Gal &amp; Ghahramani [16] / Leibig et al. [17]: MC Dropout ≈ Bayesian inference; referral improves reliability.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Gap: uncertainty estimation is still absent from most ALL detection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Blood Cells Cancer (ALL) dataset, Aria et al. on Kaggle [14].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3,242 microscopic smear images across 4 classes (~810 each).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Stratified split 70 / 15 / 15 (train / val / test), seed 42.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–  Test split held out from training and ensemble fitting.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Images resized to 224×224, per-backbone normalization.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Train-time augmentation: flips, ±20° rotation, ±10% zoom, ±10% brightness/contrast.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737360"/>
            <a:ext cx="429768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874519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0F2B46"/>
                </a:solidFill>
                <a:latin typeface="Calibri"/>
              </a:rPr>
              <a:t>Class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423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Benign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4231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600" b="1" i="0">
                <a:solidFill>
                  <a:srgbClr val="1F6FB2"/>
                </a:solidFill>
                <a:latin typeface="Calibri"/>
              </a:rPr>
              <a:t>~810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926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early Pre-B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9260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600" b="1" i="0">
                <a:solidFill>
                  <a:srgbClr val="1F6FB2"/>
                </a:solidFill>
                <a:latin typeface="Calibri"/>
              </a:rPr>
              <a:t>~810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429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Pre-B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4290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600" b="1" i="0">
                <a:solidFill>
                  <a:srgbClr val="1F6FB2"/>
                </a:solidFill>
                <a:latin typeface="Calibri"/>
              </a:rPr>
              <a:t>~810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9319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1A1A1A"/>
                </a:solidFill>
                <a:latin typeface="Calibri"/>
              </a:rPr>
              <a:t>Pro-B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9319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600" b="1" i="0">
                <a:solidFill>
                  <a:srgbClr val="1F6FB2"/>
                </a:solidFill>
                <a:latin typeface="Calibri"/>
              </a:rPr>
              <a:t>~810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434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 i="0">
                <a:solidFill>
                  <a:srgbClr val="1A1A1A"/>
                </a:solidFill>
                <a:latin typeface="Calibri"/>
              </a:rPr>
              <a:t>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4348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600" b="1" i="0">
                <a:solidFill>
                  <a:srgbClr val="0F2B46"/>
                </a:solidFill>
                <a:latin typeface="Calibri"/>
              </a:rPr>
              <a:t>3,242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Hybrid ensemble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Three diverse pretrained backbones:</a:t>
            </a:r>
          </a:p>
          <a:p>
            <a:pPr lvl="1"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–  MobileNetV2 — inverted residuals (3.4M params)</a:t>
            </a:r>
          </a:p>
          <a:p>
            <a:pPr lvl="1"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–  EfficientNetB0 — compound scaling (5.3M)</a:t>
            </a:r>
          </a:p>
          <a:p>
            <a:pPr lvl="1"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–  DenseNet121 — dense connections (8.0M)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Two-phase transfer learning:</a:t>
            </a:r>
          </a:p>
          <a:p>
            <a:pPr lvl="1"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–  Phase 1: frozen base, train head (Adam, 1e-3, 5 ep)</a:t>
            </a:r>
          </a:p>
          <a:p>
            <a:pPr lvl="1"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–  Phase 2: unfreeze top 30%, fine-tune (1e-5)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Two ensemble heads fit on validation:</a:t>
            </a:r>
          </a:p>
          <a:p>
            <a:pPr lvl="1"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–  Weighted soft voting (weights ∝ val macro-F1)</a:t>
            </a:r>
          </a:p>
          <a:p>
            <a:pPr lvl="1"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–  Stacked logistic-regression meta-classifier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21927"/>
            <a:ext cx="5394960" cy="2237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MC Dropout uncertainty + Grad-CAM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 single softmax score is a poor confidence measure.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Keep dropout ON at inference; run T = 30 stochastic passes per image.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The spread yields two metrics: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–  Predictive entropy — total uncertainty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–  Mutual information — model (epistemic) uncertainty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Normalized entropy → 3-level flag: HIGH / MEDIUM / LOW.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LOW-confidence cases referred to a human specialist.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Grad-CAM heatmaps show which regions drove each prediction.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737360"/>
            <a:ext cx="512064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2B46"/>
                </a:solidFill>
                <a:latin typeface="Calibri"/>
              </a:rPr>
              <a:t>Confidence flag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Norm. entropy &lt; 0.18 → HIGH → accept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0.18 – 0.55 → MEDIUM → review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≥ 0.55 → LOW → refer to specialist</a:t>
            </a:r>
          </a:p>
        </p:txBody>
      </p:sp>
      <p:pic>
        <p:nvPicPr>
          <p:cNvPr id="11" name="Picture 10" descr="gradcam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583" y="3794760"/>
            <a:ext cx="3765953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Performance on held-out test split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67665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09728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Kappa</a:t>
                      </a:r>
                    </a:p>
                  </a:txBody>
                  <a:tcPr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F2B4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MobileNetV2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0.9358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EfficientNetB0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0.9486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0.9484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0.9311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0.9934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DenseNet121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B46"/>
                          </a:solidFill>
                          <a:latin typeface="Calibri"/>
                        </a:rPr>
                        <a:t>Weighted Voting</a:t>
                      </a:r>
                    </a:p>
                  </a:txBody>
                  <a:tcPr>
                    <a:solidFill>
                      <a:srgbClr val="DEF1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2B46"/>
                          </a:solidFill>
                          <a:latin typeface="Calibri"/>
                        </a:rPr>
                        <a:t>0.9650</a:t>
                      </a:r>
                    </a:p>
                  </a:txBody>
                  <a:tcPr>
                    <a:solidFill>
                      <a:srgbClr val="DEF1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2B46"/>
                          </a:solidFill>
                          <a:latin typeface="Calibri"/>
                        </a:rPr>
                        <a:t>0.9648</a:t>
                      </a:r>
                    </a:p>
                  </a:txBody>
                  <a:tcPr>
                    <a:solidFill>
                      <a:srgbClr val="DEF1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2B46"/>
                          </a:solidFill>
                          <a:latin typeface="Calibri"/>
                        </a:rPr>
                        <a:t>0.9533</a:t>
                      </a:r>
                    </a:p>
                  </a:txBody>
                  <a:tcPr>
                    <a:solidFill>
                      <a:srgbClr val="DEF1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2B46"/>
                          </a:solidFill>
                          <a:latin typeface="Calibri"/>
                        </a:rPr>
                        <a:t>0.9964</a:t>
                      </a:r>
                    </a:p>
                  </a:txBody>
                  <a:tcPr>
                    <a:solidFill>
                      <a:srgbClr val="DEF1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Stacked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0.9957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Best single backbone: DenseNet121 (98.97%).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Stacked ensemble: 98.97%; voting 98.36%.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Both ensembles clear 96% acc / 0.95 F1.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All classes ROC-AUC &gt; 0.99; macro 0.9997.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Uncertainty separates right from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484632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2B46"/>
                </a:solidFill>
                <a:latin typeface="Calibri"/>
              </a:rPr>
              <a:t>MC Dropout by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Correct (481): avg entropy 0.08, 5.6% flagged.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Incorrect (6): avg entropy 0.47, 83% flagged.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~6× gap — entropy AUROC 0.965.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1">
                <a:solidFill>
                  <a:srgbClr val="556672"/>
                </a:solidFill>
                <a:latin typeface="Calibri"/>
              </a:rPr>
              <a:t>Selective referral caught 83% of errors while sending 5.6% of correct predictions for review. Based on 6 test errors — indicative, not precise.</a:t>
            </a:r>
          </a:p>
        </p:txBody>
      </p:sp>
      <p:pic>
        <p:nvPicPr>
          <p:cNvPr id="11" name="Picture 10" descr="cm_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80584"/>
            <a:ext cx="3108960" cy="2811232"/>
          </a:xfrm>
          <a:prstGeom prst="rect">
            <a:avLst/>
          </a:prstGeom>
        </p:spPr>
      </p:pic>
      <p:pic>
        <p:nvPicPr>
          <p:cNvPr id="12" name="Picture 11" descr="roc_ensem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421998"/>
            <a:ext cx="3108960" cy="29284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9304"/>
            <a:ext cx="12191695" cy="55686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2EA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2EA68F"/>
                </a:solidFill>
                <a:latin typeface="Calibri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F2B46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Hybrid ensemble of three fine-tuned backbones; stacking reached 98.97% acc, 0.9883 macro-F1.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MC Dropout flagged 83% of misclassifications (6 in the split) while tripping on 5.6% of correct predictions.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Grad-CAM confirms the model attends to clinically relevant nuclear features.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Deployed as a FastAPI web application with real-time uncertainty flags.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F2B46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Test on smears from other hospitals and staining protocols.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Add a cell-detection step for whole-slide images; fold in a Vision Transformer.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Prospective study alongside pathologists.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Blood Cancer Identification · Hybrid Ensemble + MC Dropout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556672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